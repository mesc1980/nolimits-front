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7272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09600"/>
            <a:ext cx="1423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BRANDBOOK · V2.0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6768018" y="609600"/>
            <a:ext cx="8341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Q1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762000" y="3436144"/>
            <a:ext cx="17266920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000" b="1" spc="-16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90000"/>
              </a:lnSpc>
              <a:buNone/>
            </a:pPr>
            <a:r>
              <a:rPr lang="en-US" sz="27000" b="1" spc="-1620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90000"/>
              </a:lnSpc>
              <a:buNone/>
            </a:pPr>
            <a:r>
              <a:rPr lang="en-US" sz="27000" b="1" spc="-16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27000" dirty="0"/>
          </a:p>
        </p:txBody>
      </p:sp>
      <p:sp>
        <p:nvSpPr>
          <p:cNvPr id="6" name="Text 4"/>
          <p:cNvSpPr/>
          <p:nvPr/>
        </p:nvSpPr>
        <p:spPr>
          <a:xfrm>
            <a:off x="762000" y="9205913"/>
            <a:ext cx="634165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ESENCIA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9429750"/>
            <a:ext cx="24527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tu cultura, sin límites.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76145" y="9205913"/>
            <a:ext cx="317078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76145" y="9429750"/>
            <a:ext cx="17413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3 · TPY1101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911780" y="9205913"/>
            <a:ext cx="31708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780" y="9429750"/>
            <a:ext cx="13465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· dark-first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447490" y="9205913"/>
            <a:ext cx="317086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447490" y="9429750"/>
            <a:ext cx="10900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Q1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047640" y="819150"/>
            <a:ext cx="1170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BRANDBOOK 2.0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6447219" y="819150"/>
            <a:ext cx="10025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ÍNDICE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8168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7811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781175"/>
            <a:ext cx="86580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ÍNDICE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309813"/>
            <a:ext cx="16952976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Catorce capítulos para una sola marca.</a:t>
            </a:r>
            <a:endParaRPr lang="en-US" sz="6900" dirty="0"/>
          </a:p>
        </p:txBody>
      </p:sp>
      <p:sp>
        <p:nvSpPr>
          <p:cNvPr id="9" name="Shape 7"/>
          <p:cNvSpPr/>
          <p:nvPr/>
        </p:nvSpPr>
        <p:spPr>
          <a:xfrm>
            <a:off x="914400" y="535781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94109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47800" y="488156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Esencia, propósito y manifiesto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39100" y="494109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535781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494109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134600" y="488156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logotipo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25900" y="494109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605313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3641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47800" y="557688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cromática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39100" y="563641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0" y="605313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63641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34600" y="557688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725900" y="563641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674846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33174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47800" y="627221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Iconografía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39100" y="633174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01200" y="674846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633174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134600" y="627221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UI base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725900" y="633174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744378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702706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47800" y="696753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Layout, grid y espaciado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039100" y="702706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601200" y="744378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702706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34600" y="696753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 e interacción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725900" y="702706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14400" y="8139112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772239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447800" y="766286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imagen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039100" y="772239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01200" y="8139112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0" y="772239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134600" y="766286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 y voz de marca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725900" y="772239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14400" y="883443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841771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447800" y="835818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039100" y="841771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601200" y="8834438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0" y="8417719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134600" y="8358188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correctos / incorrectos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6725900" y="8417719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14400" y="952976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" y="911304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447800" y="905351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descargables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039100" y="911304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601200" y="9529763"/>
            <a:ext cx="77724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2" name="Text 60"/>
          <p:cNvSpPr/>
          <p:nvPr/>
        </p:nvSpPr>
        <p:spPr>
          <a:xfrm>
            <a:off x="9601200" y="9113044"/>
            <a:ext cx="6096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134600" y="9053513"/>
            <a:ext cx="6867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globales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6725900" y="9113044"/>
            <a:ext cx="6477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889709" y="819150"/>
            <a:ext cx="10868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ESENCIA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24745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ESENCIA Y MANIFIESTO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347913"/>
            <a:ext cx="16952976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spc="-2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obra es la protagonista. La interfaz desaparece.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914400" y="5357813"/>
            <a:ext cx="523234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14400" y="5657850"/>
            <a:ext cx="5232349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 sin fricción.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03950" y="5357813"/>
            <a:ext cx="523242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603950" y="5657850"/>
            <a:ext cx="523242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Devolverle al usuario el control sobre lo que consume, organiza y recomienda en el universo multimedia.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293575" y="5357813"/>
            <a:ext cx="523234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293575" y="5657850"/>
            <a:ext cx="523234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Encontrar, comparar y registrar cualquier obra cultural —sin saltar entre siete pestañas— en menos de 30 segundos.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637073" y="819150"/>
            <a:ext cx="13394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MANIFIESTO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914400" y="1590675"/>
            <a:ext cx="169529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MANIFIESTO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14400" y="3122935"/>
            <a:ext cx="4539618" cy="2617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Creemos que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spc="-24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buena historia no tiene formato </a:t>
            </a:r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Puede llegar en una novela, una serie, un videojuego, una canción o un anime, y todas merecen el mismo respeto.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48800" y="3122935"/>
            <a:ext cx="4539618" cy="2617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construimos NoLimits: para que nadie tenga que elegir entre siete aplicaciones y siete bibliotecas para llevar el registro de lo que ama.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6311726"/>
            <a:ext cx="4539618" cy="2171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Aquí, </a:t>
            </a:r>
            <a:pPr algn="l" indent="0" marL="0">
              <a:lnSpc>
                <a:spcPct val="140000"/>
              </a:lnSpc>
              <a:buNone/>
            </a:pPr>
            <a:r>
              <a:rPr lang="en-US" sz="2400" spc="-24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libro habla con la película, el juego conversa con su banda sonora, y el anime se conecta con la novela que lo inspiró.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48800" y="6311726"/>
            <a:ext cx="5674522" cy="2171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plataforma. Infinitas historias. Cero fronteras.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805547" y="819150"/>
            <a:ext cx="1170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LOGOTIPO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1487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SISTEMA DE LOGOTIPO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24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wordmark.</a:t>
            </a:r>
            <a:endParaRPr lang="en-US" sz="6900" dirty="0"/>
          </a:p>
        </p:txBody>
      </p:sp>
      <p:sp>
        <p:nvSpPr>
          <p:cNvPr id="9" name="Text 7"/>
          <p:cNvSpPr/>
          <p:nvPr/>
        </p:nvSpPr>
        <p:spPr>
          <a:xfrm>
            <a:off x="914400" y="3376613"/>
            <a:ext cx="86277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minúsculas. Un slash en acento que actúa como bisagra entre dos palabras y dos mundos. Geist 700, tracking −0.04em.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443413"/>
            <a:ext cx="16459200" cy="5081588"/>
          </a:xfrm>
          <a:prstGeom prst="roundRect">
            <a:avLst>
              <a:gd name="adj" fmla="val 2999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475" y="4624388"/>
            <a:ext cx="23302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WORDMARK · PRIMARIO · DARK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463406" y="6031706"/>
            <a:ext cx="758194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721310" y="819150"/>
            <a:ext cx="125521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VARIANTES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03.2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234612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VARIANTES DEL SISTEMA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lecturas. Un mismo gesto.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2850803"/>
            <a:ext cx="3943350" cy="6674197"/>
          </a:xfrm>
          <a:prstGeom prst="roundRect">
            <a:avLst>
              <a:gd name="adj" fmla="val 3865"/>
            </a:avLst>
          </a:prstGeom>
          <a:solidFill>
            <a:srgbClr val="FAFAFA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475" y="3031778"/>
            <a:ext cx="9431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MODE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708249" y="5883101"/>
            <a:ext cx="24318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086350" y="2850803"/>
            <a:ext cx="3943350" cy="6674197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5425" y="3031778"/>
            <a:ext cx="7697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93197" y="5521151"/>
            <a:ext cx="1605781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ct val="100000"/>
              </a:lnSpc>
              <a:buNone/>
            </a:pPr>
            <a:r>
              <a:rPr lang="en-US" sz="10500" b="1" spc="-472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10500" b="1" spc="-4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0500" dirty="0"/>
          </a:p>
        </p:txBody>
      </p:sp>
      <p:sp>
        <p:nvSpPr>
          <p:cNvPr id="15" name="Shape 13"/>
          <p:cNvSpPr/>
          <p:nvPr/>
        </p:nvSpPr>
        <p:spPr>
          <a:xfrm>
            <a:off x="9258300" y="2850803"/>
            <a:ext cx="3943350" cy="6674197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7375" y="3031778"/>
            <a:ext cx="14632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MONOCROMO BLANCO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0052149" y="5883101"/>
            <a:ext cx="24318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13430250" y="2850803"/>
            <a:ext cx="3943350" cy="6674197"/>
          </a:xfrm>
          <a:prstGeom prst="roundRect">
            <a:avLst>
              <a:gd name="adj" fmla="val 3865"/>
            </a:avLst>
          </a:prstGeom>
          <a:solidFill>
            <a:srgbClr val="FAFAFA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49325" y="3031778"/>
            <a:ext cx="13765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MONOCROMO NEGRO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4224099" y="5883101"/>
            <a:ext cx="24318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216" kern="0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no/limits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889709" y="819150"/>
            <a:ext cx="10868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ISOTIPO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31512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ISOTIPO · INFINITO ASIMÉTRICO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líneas. Un trazo más grueso. Seis formatos conectados sin jerarquía.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506093"/>
            <a:ext cx="5334000" cy="6018907"/>
          </a:xfrm>
          <a:prstGeom prst="roundRect">
            <a:avLst>
              <a:gd name="adj" fmla="val 285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475" y="3687068"/>
            <a:ext cx="6830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</a:t>
            </a:r>
            <a:endParaRPr lang="en-US" sz="97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197" y="5585445"/>
            <a:ext cx="3720405" cy="186020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77000" y="3506093"/>
            <a:ext cx="5334000" cy="6018907"/>
          </a:xfrm>
          <a:prstGeom prst="roundRect">
            <a:avLst>
              <a:gd name="adj" fmla="val 285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6075" y="3687068"/>
            <a:ext cx="14632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ICON · 512PX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7810500" y="5182046"/>
            <a:ext cx="2667000" cy="2667000"/>
          </a:xfrm>
          <a:prstGeom prst="roundRect">
            <a:avLst>
              <a:gd name="adj" fmla="val 22000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630" y="6118324"/>
            <a:ext cx="1588740" cy="79437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039600" y="3506093"/>
            <a:ext cx="5334000" cy="6018907"/>
          </a:xfrm>
          <a:prstGeom prst="roundRect">
            <a:avLst>
              <a:gd name="adj" fmla="val 285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258675" y="3687068"/>
            <a:ext cx="16366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TAMAÑOS · APP ICON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13163550" y="5710684"/>
            <a:ext cx="1333500" cy="1333500"/>
          </a:xfrm>
          <a:prstGeom prst="roundRect">
            <a:avLst>
              <a:gd name="adj" fmla="val 22000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5980" y="6180237"/>
            <a:ext cx="788640" cy="39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8828" y="7177534"/>
            <a:ext cx="2991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975" dirty="0"/>
          </a:p>
        </p:txBody>
      </p:sp>
      <p:sp>
        <p:nvSpPr>
          <p:cNvPr id="21" name="Shape 16"/>
          <p:cNvSpPr/>
          <p:nvPr/>
        </p:nvSpPr>
        <p:spPr>
          <a:xfrm>
            <a:off x="14801850" y="6282184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9980" y="6551712"/>
            <a:ext cx="445740" cy="2228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108510" y="7177534"/>
            <a:ext cx="224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15868650" y="666318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0580" y="6799362"/>
            <a:ext cx="217140" cy="1085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984810" y="7177534"/>
            <a:ext cx="224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84438" y="819150"/>
            <a:ext cx="15920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PALETA · DARK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5435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PALETA CROMÁTICA · DARK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negro cálido, un rojo eléctrico.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506093"/>
            <a:ext cx="3971925" cy="1352550"/>
          </a:xfrm>
          <a:prstGeom prst="roundRect">
            <a:avLst>
              <a:gd name="adj" fmla="val 11268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0625" y="3782318"/>
            <a:ext cx="35220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AFAF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· 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90625" y="4006155"/>
            <a:ext cx="35220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#0A0A0B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4258568"/>
            <a:ext cx="35220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AFAF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--nl-bg-base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4401443"/>
            <a:ext cx="35220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principal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6825" y="3506093"/>
            <a:ext cx="3971925" cy="1352550"/>
          </a:xfrm>
          <a:prstGeom prst="roundRect">
            <a:avLst>
              <a:gd name="adj" fmla="val 112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3050" y="3782318"/>
            <a:ext cx="35220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AFAF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· ELEVATED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53050" y="4006155"/>
            <a:ext cx="35220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#141416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53050" y="4258568"/>
            <a:ext cx="35220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AFAF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--nl-bg-elevated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53050" y="4401443"/>
            <a:ext cx="35220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· modales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9250" y="3506093"/>
            <a:ext cx="3971925" cy="1352550"/>
          </a:xfrm>
          <a:prstGeom prst="roundRect">
            <a:avLst>
              <a:gd name="adj" fmla="val 11268"/>
            </a:avLst>
          </a:prstGeom>
          <a:solidFill>
            <a:srgbClr val="1C1C1F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5475" y="3782318"/>
            <a:ext cx="35220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AFAF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· SUBTLE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15475" y="4006155"/>
            <a:ext cx="35220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#1C1C1F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15475" y="4258568"/>
            <a:ext cx="35220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AFAF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--nl-bg-subtle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515475" y="4401443"/>
            <a:ext cx="35220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inputs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401675" y="3506093"/>
            <a:ext cx="3971925" cy="1352550"/>
          </a:xfrm>
          <a:prstGeom prst="roundRect">
            <a:avLst>
              <a:gd name="adj" fmla="val 11268"/>
            </a:avLst>
          </a:prstGeom>
          <a:solidFill>
            <a:srgbClr val="27272A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77900" y="3782318"/>
            <a:ext cx="352205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AFAF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677900" y="4006155"/>
            <a:ext cx="352205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#27272A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677900" y="4258568"/>
            <a:ext cx="35220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AFAF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--nl-border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3677900" y="4401443"/>
            <a:ext cx="35220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AFAF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1px divisores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239643"/>
            <a:ext cx="5359375" cy="1352550"/>
          </a:xfrm>
          <a:prstGeom prst="roundRect">
            <a:avLst>
              <a:gd name="adj" fmla="val 11268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90625" y="5515868"/>
            <a:ext cx="495113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AFAF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· PRIMARY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90625" y="5739705"/>
            <a:ext cx="49511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#FAFAFA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90625" y="5992118"/>
            <a:ext cx="49511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A1A1A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--nl-text-primary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90625" y="6134993"/>
            <a:ext cx="49511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y cuerpo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64275" y="5239643"/>
            <a:ext cx="5359375" cy="1352550"/>
          </a:xfrm>
          <a:prstGeom prst="roundRect">
            <a:avLst>
              <a:gd name="adj" fmla="val 11268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0500" y="5515868"/>
            <a:ext cx="495113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A1A1A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· SECONDARY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40500" y="5739705"/>
            <a:ext cx="49511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#A1A1AA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40500" y="5992118"/>
            <a:ext cx="49511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1717A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--nl-text-secondary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740500" y="6134993"/>
            <a:ext cx="49511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2014150" y="5239643"/>
            <a:ext cx="5359450" cy="1352550"/>
          </a:xfrm>
          <a:prstGeom prst="roundRect">
            <a:avLst>
              <a:gd name="adj" fmla="val 11268"/>
            </a:avLst>
          </a:prstGeom>
          <a:solidFill>
            <a:srgbClr val="FF4D4D"/>
          </a:solidFill>
          <a:ln/>
        </p:spPr>
      </p:sp>
      <p:sp>
        <p:nvSpPr>
          <p:cNvPr id="40" name="Text 38"/>
          <p:cNvSpPr/>
          <p:nvPr/>
        </p:nvSpPr>
        <p:spPr>
          <a:xfrm>
            <a:off x="12290375" y="5515868"/>
            <a:ext cx="495121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 · BRAND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290375" y="5739705"/>
            <a:ext cx="495121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#FF4D4D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290375" y="5992118"/>
            <a:ext cx="49512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--nl-accent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2290375" y="6134993"/>
            <a:ext cx="49512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CTAs · branding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805547" y="819150"/>
            <a:ext cx="1170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FORMATOS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325295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COLORES SEMÁNTICOS POR FORMATO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 chips pequeños. Nunca como background dominante.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506093"/>
            <a:ext cx="93298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al 100%, fondo del chip al 15% de opacidad. Seis colores que existen para etiquetar — nunca para llenar.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744343"/>
            <a:ext cx="5359375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525" y="4982468"/>
            <a:ext cx="966415" cy="304800"/>
          </a:xfrm>
          <a:prstGeom prst="roundRect">
            <a:avLst>
              <a:gd name="adj" fmla="val 25000"/>
            </a:avLst>
          </a:prstGeom>
          <a:solidFill>
            <a:srgbClr val="F87171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85875" y="4982468"/>
            <a:ext cx="7759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PELÍCULA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52525" y="5420618"/>
            <a:ext cx="14366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--nl-format-movie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5396" y="5177730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#F87171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64275" y="4744343"/>
            <a:ext cx="5359375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400" y="4982468"/>
            <a:ext cx="674340" cy="304800"/>
          </a:xfrm>
          <a:prstGeom prst="roundRect">
            <a:avLst>
              <a:gd name="adj" fmla="val 25000"/>
            </a:avLst>
          </a:prstGeom>
          <a:solidFill>
            <a:srgbClr val="FB923C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35750" y="4982468"/>
            <a:ext cx="4838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02400" y="5420618"/>
            <a:ext cx="151663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--nl-format-series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65272" y="5177730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#FB923C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014150" y="4744343"/>
            <a:ext cx="5359450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2275" y="4982468"/>
            <a:ext cx="696144" cy="304800"/>
          </a:xfrm>
          <a:prstGeom prst="roundRect">
            <a:avLst>
              <a:gd name="adj" fmla="val 25000"/>
            </a:avLst>
          </a:prstGeom>
          <a:solidFill>
            <a:srgbClr val="FBBF2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385625" y="4982468"/>
            <a:ext cx="5056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252275" y="5420618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--nl-format-book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415221" y="5177730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#FBBF24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5996880"/>
            <a:ext cx="5359375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2525" y="6235005"/>
            <a:ext cx="834405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85875" y="6235005"/>
            <a:ext cx="643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525" y="6673155"/>
            <a:ext cx="14366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--nl-format-music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15396" y="6430268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#34D399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64275" y="5996880"/>
            <a:ext cx="5359375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400" y="6235005"/>
            <a:ext cx="1202457" cy="304800"/>
          </a:xfrm>
          <a:prstGeom prst="roundRect">
            <a:avLst>
              <a:gd name="adj" fmla="val 25000"/>
            </a:avLst>
          </a:prstGeom>
          <a:solidFill>
            <a:srgbClr val="60A5FA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35750" y="6235005"/>
            <a:ext cx="10119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VIDEOJUEGO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02400" y="6673155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--nl-format-game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865272" y="6430268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#60A5FA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014150" y="5996880"/>
            <a:ext cx="5359450" cy="1062038"/>
          </a:xfrm>
          <a:prstGeom prst="roundRect">
            <a:avLst>
              <a:gd name="adj" fmla="val 12556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252275" y="6235005"/>
            <a:ext cx="728737" cy="304800"/>
          </a:xfrm>
          <a:prstGeom prst="roundRect">
            <a:avLst>
              <a:gd name="adj" fmla="val 25000"/>
            </a:avLst>
          </a:prstGeom>
          <a:solidFill>
            <a:srgbClr val="A78BFA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385625" y="6235005"/>
            <a:ext cx="5382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2252275" y="6673155"/>
            <a:ext cx="14366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--nl-format-anime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6415221" y="6430268"/>
            <a:ext cx="7964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#A78BFA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637073" y="819150"/>
            <a:ext cx="13394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TIPOGRAFÍA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126057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TIPOGRAFÍA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familias. Una jerarquía clara.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2850803"/>
            <a:ext cx="5334000" cy="2462213"/>
          </a:xfrm>
          <a:prstGeom prst="roundRect">
            <a:avLst>
              <a:gd name="adj" fmla="val 6190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165128"/>
            <a:ext cx="48465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28725" y="3498503"/>
            <a:ext cx="48465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28725" y="4336703"/>
            <a:ext cx="484651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· 123 · /∞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28725" y="4741515"/>
            <a:ext cx="1082204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14" name="Text 12"/>
          <p:cNvSpPr/>
          <p:nvPr/>
        </p:nvSpPr>
        <p:spPr>
          <a:xfrm>
            <a:off x="1323975" y="4798665"/>
            <a:ext cx="9679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SemiBold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2406179" y="4741515"/>
            <a:ext cx="784994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16" name="Text 14"/>
          <p:cNvSpPr/>
          <p:nvPr/>
        </p:nvSpPr>
        <p:spPr>
          <a:xfrm>
            <a:off x="2501429" y="4798665"/>
            <a:ext cx="6706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Bold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477000" y="2850803"/>
            <a:ext cx="5334000" cy="2462213"/>
          </a:xfrm>
          <a:prstGeom prst="roundRect">
            <a:avLst>
              <a:gd name="adj" fmla="val 6190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1325" y="3165128"/>
            <a:ext cx="48465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 · UI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91325" y="3498503"/>
            <a:ext cx="48465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91325" y="4336703"/>
            <a:ext cx="484651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· 123 · /∞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91325" y="4741515"/>
            <a:ext cx="413445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22" name="Text 20"/>
          <p:cNvSpPr/>
          <p:nvPr/>
        </p:nvSpPr>
        <p:spPr>
          <a:xfrm>
            <a:off x="6886575" y="4798665"/>
            <a:ext cx="2991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7300020" y="4741515"/>
            <a:ext cx="413445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24" name="Text 22"/>
          <p:cNvSpPr/>
          <p:nvPr/>
        </p:nvSpPr>
        <p:spPr>
          <a:xfrm>
            <a:off x="7395270" y="4798665"/>
            <a:ext cx="2991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7808714" y="4741515"/>
            <a:ext cx="413445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26" name="Text 24"/>
          <p:cNvSpPr/>
          <p:nvPr/>
        </p:nvSpPr>
        <p:spPr>
          <a:xfrm>
            <a:off x="7903964" y="4798665"/>
            <a:ext cx="2991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2039600" y="2850803"/>
            <a:ext cx="5334000" cy="2462213"/>
          </a:xfrm>
          <a:prstGeom prst="roundRect">
            <a:avLst>
              <a:gd name="adj" fmla="val 6190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53925" y="3165128"/>
            <a:ext cx="48465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· TÉCNICA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2353925" y="3498503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2353925" y="4241453"/>
            <a:ext cx="484651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Bb Cc · 123 · /∞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2353925" y="4646265"/>
            <a:ext cx="1007938" cy="257175"/>
          </a:xfrm>
          <a:prstGeom prst="roundRect">
            <a:avLst>
              <a:gd name="adj" fmla="val 22222"/>
            </a:avLst>
          </a:prstGeom>
          <a:solidFill>
            <a:srgbClr val="1C1C1F"/>
          </a:solidFill>
          <a:ln/>
        </p:spPr>
      </p:sp>
      <p:sp>
        <p:nvSpPr>
          <p:cNvPr id="32" name="Text 30"/>
          <p:cNvSpPr/>
          <p:nvPr/>
        </p:nvSpPr>
        <p:spPr>
          <a:xfrm>
            <a:off x="12449175" y="4703415"/>
            <a:ext cx="8936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Regular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914400" y="6938888"/>
            <a:ext cx="164592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6317903"/>
            <a:ext cx="2747010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display-xl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14400" y="6593160"/>
            <a:ext cx="2008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72px · 1.0 · 700 · -0.04em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4038600" y="5865465"/>
            <a:ext cx="137350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no/limits</a:t>
            </a:r>
            <a:endParaRPr lang="en-US" sz="5400" dirty="0"/>
          </a:p>
        </p:txBody>
      </p:sp>
      <p:sp>
        <p:nvSpPr>
          <p:cNvPr id="37" name="Shape 35"/>
          <p:cNvSpPr/>
          <p:nvPr/>
        </p:nvSpPr>
        <p:spPr>
          <a:xfrm>
            <a:off x="914400" y="8007548"/>
            <a:ext cx="164592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7386563"/>
            <a:ext cx="2747010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display-lg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4400" y="7661821"/>
            <a:ext cx="20825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48px · 1.05 · 700 · -0.03em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4038600" y="7119863"/>
            <a:ext cx="1373505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biblioteca cultural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914400" y="8895234"/>
            <a:ext cx="164592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8274248"/>
            <a:ext cx="2747010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heading-md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4400" y="8549506"/>
            <a:ext cx="20082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 · 1.3 · 600 · -0.01em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4038600" y="8188523"/>
            <a:ext cx="13735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 de sección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400" y="9128596"/>
            <a:ext cx="2747010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14400" y="9403854"/>
            <a:ext cx="12651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15px · 1.6 · 400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4038600" y="9076209"/>
            <a:ext cx="621848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cuerpo principal respira con line-height generoso.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552911" y="819150"/>
            <a:ext cx="1423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ICONOGRAFÍA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24745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ICONOGRAFÍA · LUCIDE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Lucide. Solo Lucide.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003203"/>
            <a:ext cx="93298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set en todo el sistema. Línea, 2px stroke, esquinas redondeadas. Hereda currentColor — nunca color propio. Tamaños: 16 · 20 · 24 · 32.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425" y="5749751"/>
            <a:ext cx="381000" cy="381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7175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5749751"/>
            <a:ext cx="381000" cy="38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2910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5749751"/>
            <a:ext cx="381000" cy="381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8645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5749751"/>
            <a:ext cx="381000" cy="38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54380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5749751"/>
            <a:ext cx="381000" cy="3810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20115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2175" y="5749751"/>
            <a:ext cx="381000" cy="3810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085850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9525" y="5749751"/>
            <a:ext cx="381000" cy="3810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251585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96875" y="5749751"/>
            <a:ext cx="381000" cy="38100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1417320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54225" y="5749751"/>
            <a:ext cx="381000" cy="381000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15830550" y="516872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11575" y="5749751"/>
            <a:ext cx="381000" cy="38100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91440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5425" y="7407101"/>
            <a:ext cx="381000" cy="3810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257175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2775" y="7407101"/>
            <a:ext cx="381000" cy="38100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22910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0125" y="7407101"/>
            <a:ext cx="381000" cy="381000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588645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7475" y="7407101"/>
            <a:ext cx="381000" cy="381000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754380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4825" y="7407101"/>
            <a:ext cx="381000" cy="381000"/>
          </a:xfrm>
          <a:prstGeom prst="rect">
            <a:avLst/>
          </a:prstGeom>
        </p:spPr>
      </p:pic>
      <p:sp>
        <p:nvSpPr>
          <p:cNvPr id="40" name="Shape 23"/>
          <p:cNvSpPr/>
          <p:nvPr/>
        </p:nvSpPr>
        <p:spPr>
          <a:xfrm>
            <a:off x="920115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2175" y="7407101"/>
            <a:ext cx="381000" cy="381000"/>
          </a:xfrm>
          <a:prstGeom prst="rect">
            <a:avLst/>
          </a:prstGeom>
        </p:spPr>
      </p:pic>
      <p:sp>
        <p:nvSpPr>
          <p:cNvPr id="42" name="Shape 24"/>
          <p:cNvSpPr/>
          <p:nvPr/>
        </p:nvSpPr>
        <p:spPr>
          <a:xfrm>
            <a:off x="1085850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9525" y="7407101"/>
            <a:ext cx="381000" cy="381000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1251585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96875" y="7407101"/>
            <a:ext cx="381000" cy="381000"/>
          </a:xfrm>
          <a:prstGeom prst="rect">
            <a:avLst/>
          </a:prstGeom>
        </p:spPr>
      </p:pic>
      <p:sp>
        <p:nvSpPr>
          <p:cNvPr id="46" name="Shape 26"/>
          <p:cNvSpPr/>
          <p:nvPr/>
        </p:nvSpPr>
        <p:spPr>
          <a:xfrm>
            <a:off x="1417320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54225" y="7407101"/>
            <a:ext cx="381000" cy="381000"/>
          </a:xfrm>
          <a:prstGeom prst="rect">
            <a:avLst/>
          </a:prstGeom>
        </p:spPr>
      </p:pic>
      <p:sp>
        <p:nvSpPr>
          <p:cNvPr id="48" name="Shape 27"/>
          <p:cNvSpPr/>
          <p:nvPr/>
        </p:nvSpPr>
        <p:spPr>
          <a:xfrm>
            <a:off x="15830550" y="6826076"/>
            <a:ext cx="1543050" cy="1543050"/>
          </a:xfrm>
          <a:prstGeom prst="roundRect">
            <a:avLst>
              <a:gd name="adj" fmla="val 7407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11575" y="7407101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552911" y="819150"/>
            <a:ext cx="1423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COMPONENTES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07.1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365956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CARD DE OBRA · COMPONENTE ESTRELLA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construido.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003203"/>
            <a:ext cx="3943350" cy="7272338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03203"/>
            <a:ext cx="3943350" cy="5915025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003203"/>
            <a:ext cx="3943350" cy="59150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5250" y="3003203"/>
            <a:ext cx="4061650" cy="595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105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 2:3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23950" y="9089678"/>
            <a:ext cx="362997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Runner 2049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23950" y="9351615"/>
            <a:ext cx="3629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· Película · Saga BR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3950" y="9770715"/>
            <a:ext cx="5094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9656" y="9684990"/>
            <a:ext cx="7151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Guardar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86350" y="3003203"/>
            <a:ext cx="3943350" cy="7272338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6350" y="3003203"/>
            <a:ext cx="3943350" cy="5915025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6350" y="3003203"/>
            <a:ext cx="3943350" cy="59150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7200" y="3003203"/>
            <a:ext cx="4061650" cy="595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105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 2:3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95900" y="9089678"/>
            <a:ext cx="362997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Edgerunners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95900" y="9351615"/>
            <a:ext cx="3629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· Anime · Trigger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95900" y="9770715"/>
            <a:ext cx="5484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8.7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71606" y="9684990"/>
            <a:ext cx="7151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Guardar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58300" y="3003203"/>
            <a:ext cx="3943350" cy="7272338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/>
        </p:spPr>
      </p:sp>
      <p:sp>
        <p:nvSpPr>
          <p:cNvPr id="26" name="Shape 24"/>
          <p:cNvSpPr/>
          <p:nvPr/>
        </p:nvSpPr>
        <p:spPr>
          <a:xfrm>
            <a:off x="9258300" y="3003203"/>
            <a:ext cx="3943350" cy="5915025"/>
          </a:xfrm>
          <a:prstGeom prst="rect">
            <a:avLst/>
          </a:prstGeom>
          <a:solidFill>
            <a:srgbClr val="1C1C1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244138" y="5467796"/>
            <a:ext cx="1971675" cy="98583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467850" y="9089678"/>
            <a:ext cx="362997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Largo Mañana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467850" y="9351615"/>
            <a:ext cx="3629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· Libro · L. Brackett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467850" y="9770715"/>
            <a:ext cx="5601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8.2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2143556" y="9684990"/>
            <a:ext cx="7151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Guardar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3430250" y="3003203"/>
            <a:ext cx="3943350" cy="7272338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/>
        </p:spPr>
      </p:sp>
      <p:sp>
        <p:nvSpPr>
          <p:cNvPr id="33" name="Shape 30"/>
          <p:cNvSpPr/>
          <p:nvPr/>
        </p:nvSpPr>
        <p:spPr>
          <a:xfrm>
            <a:off x="13430250" y="3003203"/>
            <a:ext cx="3943350" cy="5915025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34" name="Shape 31"/>
          <p:cNvSpPr/>
          <p:nvPr/>
        </p:nvSpPr>
        <p:spPr>
          <a:xfrm>
            <a:off x="13430250" y="3003203"/>
            <a:ext cx="3943350" cy="59150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3371100" y="3003203"/>
            <a:ext cx="4061650" cy="595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spc="105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 2:3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3639800" y="9089678"/>
            <a:ext cx="362997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Elysium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3639800" y="9351615"/>
            <a:ext cx="3629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· Videojuego · RPG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3639800" y="9770715"/>
            <a:ext cx="5663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9.4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6315506" y="9684990"/>
            <a:ext cx="7151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Guardar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131802" y="819150"/>
            <a:ext cx="18447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BOTONES · SEARCH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07.2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185268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BOTONES E INPUTS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gradientes. Sin sombras. Sin bordes extremos.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003203"/>
            <a:ext cx="8115300" cy="1576388"/>
          </a:xfrm>
          <a:prstGeom prst="roundRect">
            <a:avLst>
              <a:gd name="adj" fmla="val 96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317528"/>
            <a:ext cx="77112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PRIMARIO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1228725" y="3769965"/>
            <a:ext cx="788119" cy="381000"/>
          </a:xfrm>
          <a:prstGeom prst="roundRect">
            <a:avLst>
              <a:gd name="adj" fmla="val 25000"/>
            </a:avLst>
          </a:prstGeom>
          <a:solidFill>
            <a:srgbClr val="FF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3769965"/>
            <a:ext cx="521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50194" y="3693765"/>
            <a:ext cx="1556147" cy="533400"/>
          </a:xfrm>
          <a:prstGeom prst="roundRect">
            <a:avLst>
              <a:gd name="adj" fmla="val 17857"/>
            </a:avLst>
          </a:prstGeom>
          <a:solidFill>
            <a:srgbClr val="FF4D4D"/>
          </a:solidFill>
          <a:ln/>
        </p:spPr>
      </p:sp>
      <p:sp>
        <p:nvSpPr>
          <p:cNvPr id="14" name="Text 12"/>
          <p:cNvSpPr/>
          <p:nvPr/>
        </p:nvSpPr>
        <p:spPr>
          <a:xfrm>
            <a:off x="2378794" y="3693765"/>
            <a:ext cx="10989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obras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3839691" y="3655665"/>
            <a:ext cx="2030537" cy="609600"/>
          </a:xfrm>
          <a:prstGeom prst="roundRect">
            <a:avLst>
              <a:gd name="adj" fmla="val 15625"/>
            </a:avLst>
          </a:prstGeom>
          <a:solidFill>
            <a:srgbClr val="FF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4106391" y="3655665"/>
            <a:ext cx="149713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películas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58300" y="3003203"/>
            <a:ext cx="8115300" cy="1576388"/>
          </a:xfrm>
          <a:prstGeom prst="roundRect">
            <a:avLst>
              <a:gd name="adj" fmla="val 96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2625" y="3317528"/>
            <a:ext cx="77112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9572625" y="3769965"/>
            <a:ext cx="733276" cy="381000"/>
          </a:xfrm>
          <a:prstGeom prst="roundRect">
            <a:avLst>
              <a:gd name="adj" fmla="val 25000"/>
            </a:avLst>
          </a:prstGeom>
          <a:solidFill>
            <a:srgbClr val="1C1C1F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5500" y="3779490"/>
            <a:ext cx="4475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39251" y="3693765"/>
            <a:ext cx="1263179" cy="533400"/>
          </a:xfrm>
          <a:prstGeom prst="roundRect">
            <a:avLst>
              <a:gd name="adj" fmla="val 17857"/>
            </a:avLst>
          </a:prstGeom>
          <a:solidFill>
            <a:srgbClr val="1C1C1F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77376" y="3703290"/>
            <a:ext cx="78692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listas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1835780" y="3655665"/>
            <a:ext cx="1756618" cy="609600"/>
          </a:xfrm>
          <a:prstGeom prst="roundRect">
            <a:avLst>
              <a:gd name="adj" fmla="val 15625"/>
            </a:avLst>
          </a:prstGeom>
          <a:solidFill>
            <a:srgbClr val="1C1C1F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12005" y="3665190"/>
            <a:ext cx="120416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más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14400" y="4808190"/>
            <a:ext cx="8115300" cy="1576388"/>
          </a:xfrm>
          <a:prstGeom prst="roundRect">
            <a:avLst>
              <a:gd name="adj" fmla="val 96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8725" y="5122515"/>
            <a:ext cx="77112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362075" y="5574953"/>
            <a:ext cx="64613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03512" y="5498753"/>
            <a:ext cx="52640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Saltar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3658567" y="5460653"/>
            <a:ext cx="9397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tarde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258300" y="4808190"/>
            <a:ext cx="8115300" cy="1576388"/>
          </a:xfrm>
          <a:prstGeom prst="roundRect">
            <a:avLst>
              <a:gd name="adj" fmla="val 96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2625" y="5122515"/>
            <a:ext cx="771125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DESTRUCTIVO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572625" y="5574953"/>
            <a:ext cx="869082" cy="381000"/>
          </a:xfrm>
          <a:prstGeom prst="roundRect">
            <a:avLst>
              <a:gd name="adj" fmla="val 25000"/>
            </a:avLst>
          </a:prstGeom>
          <a:ln w="9525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5500" y="5584478"/>
            <a:ext cx="58333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575057" y="5498753"/>
            <a:ext cx="1623715" cy="533400"/>
          </a:xfrm>
          <a:prstGeom prst="roundRect">
            <a:avLst>
              <a:gd name="adj" fmla="val 17857"/>
            </a:avLst>
          </a:prstGeom>
          <a:ln w="9525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13182" y="5508278"/>
            <a:ext cx="114746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 de lista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32122" y="5460653"/>
            <a:ext cx="1813024" cy="609600"/>
          </a:xfrm>
          <a:prstGeom prst="roundRect">
            <a:avLst>
              <a:gd name="adj" fmla="val 15625"/>
            </a:avLst>
          </a:prstGeom>
          <a:ln w="9525">
            <a:solidFill>
              <a:srgbClr val="F87171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08347" y="5470178"/>
            <a:ext cx="126057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Borrar cuenta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914400" y="6917978"/>
            <a:ext cx="1695297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· COMPONENTE PRINCIPAL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14400" y="7446615"/>
            <a:ext cx="16459200" cy="838200"/>
          </a:xfrm>
          <a:prstGeom prst="roundRect">
            <a:avLst>
              <a:gd name="adj" fmla="val 181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7751415"/>
            <a:ext cx="228600" cy="2286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571625" y="7741890"/>
            <a:ext cx="41578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cualquier película, libro, juego, anime…</a:t>
            </a:r>
            <a:endParaRPr lang="en-US" sz="1650" dirty="0"/>
          </a:p>
        </p:txBody>
      </p:sp>
      <p:sp>
        <p:nvSpPr>
          <p:cNvPr id="42" name="Shape 39"/>
          <p:cNvSpPr/>
          <p:nvPr/>
        </p:nvSpPr>
        <p:spPr>
          <a:xfrm>
            <a:off x="914400" y="8665815"/>
            <a:ext cx="16459200" cy="838200"/>
          </a:xfrm>
          <a:prstGeom prst="roundRect">
            <a:avLst>
              <a:gd name="adj" fmla="val 18182"/>
            </a:avLst>
          </a:prstGeom>
          <a:solidFill>
            <a:srgbClr val="141416"/>
          </a:solidFill>
          <a:ln w="9525">
            <a:solidFill>
              <a:srgbClr val="FF4D4D"/>
            </a:solidFill>
            <a:prstDash val="solid"/>
          </a:ln>
          <a:effectLst>
            <a:outerShdw sx="100000" sy="100000" kx="0" ky="0" algn="bl" rotWithShape="0" blurRad="101600" dist="50800" dir="16200000">
              <a:srgbClr val="FF4D4D">
                <a:alpha val="15000"/>
              </a:srgbClr>
            </a:outerShdw>
          </a:effectLst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8970615"/>
            <a:ext cx="228600" cy="2286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571625" y="8961090"/>
            <a:ext cx="12859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Runner</a:t>
            </a:r>
            <a:endParaRPr lang="en-US" sz="1650" dirty="0"/>
          </a:p>
        </p:txBody>
      </p:sp>
      <p:sp>
        <p:nvSpPr>
          <p:cNvPr id="45" name="Text 41"/>
          <p:cNvSpPr/>
          <p:nvPr/>
        </p:nvSpPr>
        <p:spPr>
          <a:xfrm>
            <a:off x="16365438" y="8989665"/>
            <a:ext cx="8081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 buscar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973946" y="819150"/>
            <a:ext cx="10025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LAYOUT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6430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LAYOUT, GRID Y ESPACIADO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 generoso. Bordes de 1px.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2850803"/>
            <a:ext cx="8077200" cy="6674197"/>
          </a:xfrm>
          <a:prstGeom prst="roundRect">
            <a:avLst>
              <a:gd name="adj" fmla="val 2283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165128"/>
            <a:ext cx="767200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SPACING · 4PX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28725" y="361518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6525" y="359851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3019425" y="3615184"/>
            <a:ext cx="4420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409143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76525" y="4074765"/>
            <a:ext cx="76200" cy="209550"/>
          </a:xfrm>
          <a:prstGeom prst="roundRect">
            <a:avLst>
              <a:gd name="adj" fmla="val 37500"/>
            </a:avLst>
          </a:prstGeom>
          <a:solidFill>
            <a:srgbClr val="FF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3057525" y="4091434"/>
            <a:ext cx="4420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8725" y="456768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6525" y="4551015"/>
            <a:ext cx="114300" cy="209550"/>
          </a:xfrm>
          <a:prstGeom prst="roundRect">
            <a:avLst>
              <a:gd name="adj" fmla="val 25000"/>
            </a:avLst>
          </a:prstGeom>
          <a:solidFill>
            <a:srgbClr val="FF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3095625" y="456768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28725" y="504393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76525" y="5027265"/>
            <a:ext cx="152400" cy="209550"/>
          </a:xfrm>
          <a:prstGeom prst="roundRect">
            <a:avLst>
              <a:gd name="adj" fmla="val 18750"/>
            </a:avLst>
          </a:prstGeom>
          <a:solidFill>
            <a:srgbClr val="FF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133725" y="504393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px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28725" y="552018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76525" y="5503515"/>
            <a:ext cx="228600" cy="209550"/>
          </a:xfrm>
          <a:prstGeom prst="roundRect">
            <a:avLst>
              <a:gd name="adj" fmla="val 13636"/>
            </a:avLst>
          </a:prstGeom>
          <a:solidFill>
            <a:srgbClr val="FF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3209925" y="552018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px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28725" y="599643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76525" y="5979765"/>
            <a:ext cx="304800" cy="209550"/>
          </a:xfrm>
          <a:prstGeom prst="roundRect">
            <a:avLst>
              <a:gd name="adj" fmla="val 13636"/>
            </a:avLst>
          </a:prstGeom>
          <a:solidFill>
            <a:srgbClr val="FF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3286125" y="599643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px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8725" y="647268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space-12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76525" y="6456015"/>
            <a:ext cx="457200" cy="209550"/>
          </a:xfrm>
          <a:prstGeom prst="roundRect">
            <a:avLst>
              <a:gd name="adj" fmla="val 13636"/>
            </a:avLst>
          </a:prstGeom>
          <a:solidFill>
            <a:srgbClr val="FF4D4D"/>
          </a:solidFill>
          <a:ln/>
        </p:spPr>
      </p:sp>
      <p:sp>
        <p:nvSpPr>
          <p:cNvPr id="31" name="Text 29"/>
          <p:cNvSpPr/>
          <p:nvPr/>
        </p:nvSpPr>
        <p:spPr>
          <a:xfrm>
            <a:off x="3438525" y="647268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px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28725" y="694893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space-16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76525" y="6932265"/>
            <a:ext cx="609600" cy="209550"/>
          </a:xfrm>
          <a:prstGeom prst="roundRect">
            <a:avLst>
              <a:gd name="adj" fmla="val 13636"/>
            </a:avLst>
          </a:prstGeom>
          <a:solidFill>
            <a:srgbClr val="FF4D4D"/>
          </a:solidFill>
          <a:ln/>
        </p:spPr>
      </p:sp>
      <p:sp>
        <p:nvSpPr>
          <p:cNvPr id="34" name="Text 32"/>
          <p:cNvSpPr/>
          <p:nvPr/>
        </p:nvSpPr>
        <p:spPr>
          <a:xfrm>
            <a:off x="3590925" y="694893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px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28725" y="7425184"/>
            <a:ext cx="12192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76525" y="7408515"/>
            <a:ext cx="914400" cy="209550"/>
          </a:xfrm>
          <a:prstGeom prst="roundRect">
            <a:avLst>
              <a:gd name="adj" fmla="val 13636"/>
            </a:avLst>
          </a:prstGeom>
          <a:solidFill>
            <a:srgbClr val="FF4D4D"/>
          </a:solidFill>
          <a:ln/>
        </p:spPr>
      </p:sp>
      <p:sp>
        <p:nvSpPr>
          <p:cNvPr id="37" name="Text 35"/>
          <p:cNvSpPr/>
          <p:nvPr/>
        </p:nvSpPr>
        <p:spPr>
          <a:xfrm>
            <a:off x="3895725" y="7425184"/>
            <a:ext cx="53347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px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96400" y="2850803"/>
            <a:ext cx="831951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· 12 COLUMNAS · GUTTER 24PX · MAX-WIDTH 1280PX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296400" y="3188940"/>
            <a:ext cx="8077200" cy="3143250"/>
          </a:xfrm>
          <a:prstGeom prst="roundRect">
            <a:avLst>
              <a:gd name="adj" fmla="val 484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34525" y="3427065"/>
            <a:ext cx="493663" cy="2667000"/>
          </a:xfrm>
          <a:prstGeom prst="roundRect">
            <a:avLst>
              <a:gd name="adj" fmla="val 7718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534525" y="3427065"/>
            <a:ext cx="493663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42" name="Text 40"/>
          <p:cNvSpPr/>
          <p:nvPr/>
        </p:nvSpPr>
        <p:spPr>
          <a:xfrm>
            <a:off x="9496425" y="3446115"/>
            <a:ext cx="569863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10180588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180588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45" name="Text 43"/>
          <p:cNvSpPr/>
          <p:nvPr/>
        </p:nvSpPr>
        <p:spPr>
          <a:xfrm>
            <a:off x="10142488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0826725" y="3427065"/>
            <a:ext cx="493663" cy="2667000"/>
          </a:xfrm>
          <a:prstGeom prst="roundRect">
            <a:avLst>
              <a:gd name="adj" fmla="val 7718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826725" y="3427065"/>
            <a:ext cx="493663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48" name="Text 46"/>
          <p:cNvSpPr/>
          <p:nvPr/>
        </p:nvSpPr>
        <p:spPr>
          <a:xfrm>
            <a:off x="10788625" y="3446115"/>
            <a:ext cx="569863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11472788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1472788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51" name="Text 49"/>
          <p:cNvSpPr/>
          <p:nvPr/>
        </p:nvSpPr>
        <p:spPr>
          <a:xfrm>
            <a:off x="11434688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12118925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2118925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54" name="Text 52"/>
          <p:cNvSpPr/>
          <p:nvPr/>
        </p:nvSpPr>
        <p:spPr>
          <a:xfrm>
            <a:off x="12080825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12765063" y="3427065"/>
            <a:ext cx="493663" cy="2667000"/>
          </a:xfrm>
          <a:prstGeom prst="roundRect">
            <a:avLst>
              <a:gd name="adj" fmla="val 7718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765063" y="3427065"/>
            <a:ext cx="493663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57" name="Text 55"/>
          <p:cNvSpPr/>
          <p:nvPr/>
        </p:nvSpPr>
        <p:spPr>
          <a:xfrm>
            <a:off x="12726963" y="3446115"/>
            <a:ext cx="569863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13411126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411126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60" name="Text 58"/>
          <p:cNvSpPr/>
          <p:nvPr/>
        </p:nvSpPr>
        <p:spPr>
          <a:xfrm>
            <a:off x="13373026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14057263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4057263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63" name="Text 61"/>
          <p:cNvSpPr/>
          <p:nvPr/>
        </p:nvSpPr>
        <p:spPr>
          <a:xfrm>
            <a:off x="14019163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75" dirty="0"/>
          </a:p>
        </p:txBody>
      </p:sp>
      <p:sp>
        <p:nvSpPr>
          <p:cNvPr id="64" name="Shape 62"/>
          <p:cNvSpPr/>
          <p:nvPr/>
        </p:nvSpPr>
        <p:spPr>
          <a:xfrm>
            <a:off x="14703400" y="3427065"/>
            <a:ext cx="493663" cy="2667000"/>
          </a:xfrm>
          <a:prstGeom prst="roundRect">
            <a:avLst>
              <a:gd name="adj" fmla="val 7718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703400" y="3427065"/>
            <a:ext cx="493663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66" name="Text 64"/>
          <p:cNvSpPr/>
          <p:nvPr/>
        </p:nvSpPr>
        <p:spPr>
          <a:xfrm>
            <a:off x="14665300" y="3446115"/>
            <a:ext cx="569863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15349463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5349463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69" name="Text 67"/>
          <p:cNvSpPr/>
          <p:nvPr/>
        </p:nvSpPr>
        <p:spPr>
          <a:xfrm>
            <a:off x="15311363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75" dirty="0"/>
          </a:p>
        </p:txBody>
      </p:sp>
      <p:sp>
        <p:nvSpPr>
          <p:cNvPr id="70" name="Shape 68"/>
          <p:cNvSpPr/>
          <p:nvPr/>
        </p:nvSpPr>
        <p:spPr>
          <a:xfrm>
            <a:off x="15995600" y="3427065"/>
            <a:ext cx="493737" cy="2667000"/>
          </a:xfrm>
          <a:prstGeom prst="roundRect">
            <a:avLst>
              <a:gd name="adj" fmla="val 7717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5995600" y="3427065"/>
            <a:ext cx="493737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72" name="Text 70"/>
          <p:cNvSpPr/>
          <p:nvPr/>
        </p:nvSpPr>
        <p:spPr>
          <a:xfrm>
            <a:off x="15957500" y="3446115"/>
            <a:ext cx="569937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75" dirty="0"/>
          </a:p>
        </p:txBody>
      </p:sp>
      <p:sp>
        <p:nvSpPr>
          <p:cNvPr id="73" name="Shape 71"/>
          <p:cNvSpPr/>
          <p:nvPr/>
        </p:nvSpPr>
        <p:spPr>
          <a:xfrm>
            <a:off x="16641738" y="3427065"/>
            <a:ext cx="493663" cy="2667000"/>
          </a:xfrm>
          <a:prstGeom prst="roundRect">
            <a:avLst>
              <a:gd name="adj" fmla="val 7718"/>
            </a:avLst>
          </a:prstGeom>
          <a:solidFill>
            <a:srgbClr val="FF4D4D">
              <a:alpha val="1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6641738" y="3427065"/>
            <a:ext cx="493663" cy="1905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75" name="Text 73"/>
          <p:cNvSpPr/>
          <p:nvPr/>
        </p:nvSpPr>
        <p:spPr>
          <a:xfrm>
            <a:off x="16603638" y="3446115"/>
            <a:ext cx="569863" cy="259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9296400" y="6522690"/>
            <a:ext cx="3962400" cy="1014413"/>
          </a:xfrm>
          <a:prstGeom prst="roundRect">
            <a:avLst>
              <a:gd name="adj" fmla="val 112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15475" y="6741765"/>
            <a:ext cx="362997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</a:t>
            </a:r>
            <a:endParaRPr lang="en-US" sz="975" dirty="0"/>
          </a:p>
        </p:txBody>
      </p:sp>
      <p:sp>
        <p:nvSpPr>
          <p:cNvPr id="78" name="Text 76"/>
          <p:cNvSpPr/>
          <p:nvPr/>
        </p:nvSpPr>
        <p:spPr>
          <a:xfrm>
            <a:off x="9515475" y="6965603"/>
            <a:ext cx="36299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 640 · md 768 lg 1024 · xl 1280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3411200" y="6522690"/>
            <a:ext cx="3962400" cy="1014413"/>
          </a:xfrm>
          <a:prstGeom prst="roundRect">
            <a:avLst>
              <a:gd name="adj" fmla="val 1126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3630275" y="6741765"/>
            <a:ext cx="362997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</a:t>
            </a:r>
            <a:endParaRPr lang="en-US" sz="975" dirty="0"/>
          </a:p>
        </p:txBody>
      </p:sp>
      <p:sp>
        <p:nvSpPr>
          <p:cNvPr id="81" name="Text 79"/>
          <p:cNvSpPr/>
          <p:nvPr/>
        </p:nvSpPr>
        <p:spPr>
          <a:xfrm>
            <a:off x="13630275" y="6965603"/>
            <a:ext cx="362997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24px entre secciones. Nunca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637073" y="819150"/>
            <a:ext cx="13394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MOVIMIENTO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6430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MOVIMIENTO E INTERACCIÓN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movimiento comunica un cambio.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506093"/>
            <a:ext cx="93298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animaciones decorativas. Sin parallax. Sin partículas. Las cards no flotan, no brillan — solo escalan sutilmente al hover.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515743"/>
            <a:ext cx="16459200" cy="1271588"/>
          </a:xfrm>
          <a:prstGeom prst="roundRect">
            <a:avLst>
              <a:gd name="adj" fmla="val 1198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6825" y="4868168"/>
            <a:ext cx="1622698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ESTÁNDAR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66825" y="5130105"/>
            <a:ext cx="162269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cubic-bezier(0.4, 0, 0.2, 1)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6168330"/>
            <a:ext cx="16459200" cy="3619500"/>
          </a:xfrm>
          <a:prstGeom prst="roundRect">
            <a:avLst>
              <a:gd name="adj" fmla="val 4211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6825" y="6958905"/>
            <a:ext cx="1575435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266825" y="6501705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· focus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00625" y="6611243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00625" y="6611243"/>
            <a:ext cx="1868760" cy="28575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02710" y="6554093"/>
            <a:ext cx="133350" cy="13335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15611475" y="6518374"/>
            <a:ext cx="14097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ms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66825" y="7635180"/>
            <a:ext cx="1575435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1266825" y="7177980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 estado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000625" y="7287518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00625" y="7287518"/>
            <a:ext cx="2491680" cy="28575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7425630" y="7230368"/>
            <a:ext cx="133350" cy="13335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5611475" y="7194649"/>
            <a:ext cx="14097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ms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66825" y="8311455"/>
            <a:ext cx="1575435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266825" y="7854255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de modales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000625" y="7963793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5000625" y="7963793"/>
            <a:ext cx="3737595" cy="28575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671545" y="7906643"/>
            <a:ext cx="133350" cy="13335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31" name="Text 29"/>
          <p:cNvSpPr/>
          <p:nvPr/>
        </p:nvSpPr>
        <p:spPr>
          <a:xfrm>
            <a:off x="15611475" y="7870924"/>
            <a:ext cx="14097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ms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66825" y="8987730"/>
            <a:ext cx="1575435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3" name="Text 31"/>
          <p:cNvSpPr/>
          <p:nvPr/>
        </p:nvSpPr>
        <p:spPr>
          <a:xfrm>
            <a:off x="1266825" y="8530530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de página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00625" y="8640068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00625" y="8640068"/>
            <a:ext cx="5191125" cy="28575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25075" y="8582918"/>
            <a:ext cx="133350" cy="13335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37" name="Text 35"/>
          <p:cNvSpPr/>
          <p:nvPr/>
        </p:nvSpPr>
        <p:spPr>
          <a:xfrm>
            <a:off x="15611475" y="8547199"/>
            <a:ext cx="14097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ms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66825" y="9206805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loaders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5000625" y="9316343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5000625" y="9316343"/>
            <a:ext cx="10382250" cy="28575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15611475" y="9223474"/>
            <a:ext cx="14097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s ∞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973946" y="819150"/>
            <a:ext cx="10025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IMAGEN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34612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TRATAMIENTO DE IMAGEN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Portadas sangradas. Sin filtros.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003203"/>
            <a:ext cx="9329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portada original se respeta — nunca sepia, blur decorativo o marcos. La obra es la protagonista.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698528"/>
            <a:ext cx="3943350" cy="6024563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475" y="3917603"/>
            <a:ext cx="3505200" cy="5257800"/>
          </a:xfrm>
          <a:prstGeom prst="roundRect">
            <a:avLst>
              <a:gd name="adj" fmla="val 2174"/>
            </a:avLst>
          </a:prstGeom>
          <a:solidFill>
            <a:srgbClr val="1C1C1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475" y="3917603"/>
            <a:ext cx="3505200" cy="5257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80897" y="3917603"/>
            <a:ext cx="3610356" cy="529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20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: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475" y="9327803"/>
            <a:ext cx="199645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Película · Libro · Juego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98541" y="9327803"/>
            <a:ext cx="316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86350" y="3698528"/>
            <a:ext cx="3943350" cy="6024563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5425" y="3917603"/>
            <a:ext cx="3505200" cy="5257800"/>
          </a:xfrm>
          <a:prstGeom prst="roundRect">
            <a:avLst>
              <a:gd name="adj" fmla="val 2174"/>
            </a:avLst>
          </a:prstGeom>
          <a:solidFill>
            <a:srgbClr val="1C1C1F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5425" y="3917603"/>
            <a:ext cx="3505200" cy="5257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52847" y="3917603"/>
            <a:ext cx="3610356" cy="529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20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: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5425" y="9327803"/>
            <a:ext cx="11163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 · Anime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70491" y="9327803"/>
            <a:ext cx="316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58300" y="3698528"/>
            <a:ext cx="3943350" cy="6024563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7375" y="3917603"/>
            <a:ext cx="3505200" cy="5257800"/>
          </a:xfrm>
          <a:prstGeom prst="roundRect">
            <a:avLst>
              <a:gd name="adj" fmla="val 2174"/>
            </a:avLst>
          </a:prstGeom>
          <a:solidFill>
            <a:srgbClr val="1C1C1F"/>
          </a:solidFill>
          <a:ln/>
        </p:spPr>
      </p:sp>
      <p:sp>
        <p:nvSpPr>
          <p:cNvPr id="24" name="Shape 22"/>
          <p:cNvSpPr/>
          <p:nvPr/>
        </p:nvSpPr>
        <p:spPr>
          <a:xfrm>
            <a:off x="9477375" y="3917603"/>
            <a:ext cx="3505200" cy="5257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424797" y="3917603"/>
            <a:ext cx="3610356" cy="529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20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77375" y="9327803"/>
            <a:ext cx="119635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Música · álbum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742441" y="9327803"/>
            <a:ext cx="316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430250" y="3698528"/>
            <a:ext cx="3943350" cy="6024563"/>
          </a:xfrm>
          <a:prstGeom prst="roundRect">
            <a:avLst>
              <a:gd name="adj" fmla="val 3865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649325" y="3917603"/>
            <a:ext cx="3505200" cy="5257800"/>
          </a:xfrm>
          <a:prstGeom prst="roundRect">
            <a:avLst>
              <a:gd name="adj" fmla="val 2174"/>
            </a:avLst>
          </a:prstGeom>
          <a:solidFill>
            <a:srgbClr val="1C1C1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649325" y="3917603"/>
            <a:ext cx="3505200" cy="52578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596747" y="3917603"/>
            <a:ext cx="3610356" cy="529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120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: 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649325" y="9327803"/>
            <a:ext cx="11163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· banner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6834396" y="9327803"/>
            <a:ext cx="39632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226582" y="819150"/>
            <a:ext cx="7499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VOZ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1487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TONO Y VOZ DE MARCA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119313"/>
            <a:ext cx="1695297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un amigo que sabe mucho de cultura pop.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506093"/>
            <a:ext cx="9329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Cercano, entusiasta y experto. Nunca condescendiente, nunca solemne.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4201418"/>
            <a:ext cx="16459200" cy="3457575"/>
          </a:xfrm>
          <a:prstGeom prst="roundRect">
            <a:avLst>
              <a:gd name="adj" fmla="val 4408"/>
            </a:avLst>
          </a:prstGeom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925" y="4210943"/>
            <a:ext cx="8220075" cy="62865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2" name="Shape 10"/>
          <p:cNvSpPr/>
          <p:nvPr/>
        </p:nvSpPr>
        <p:spPr>
          <a:xfrm>
            <a:off x="923925" y="483006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34475" y="4210943"/>
            <a:ext cx="9525" cy="62865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228725" y="4439543"/>
            <a:ext cx="78475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 USAMOS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4210943"/>
            <a:ext cx="8220075" cy="62865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0" y="483006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4439543"/>
            <a:ext cx="785707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EVITAMOS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3925" y="553491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34475" y="4839593"/>
            <a:ext cx="9525" cy="70485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5068193"/>
            <a:ext cx="78475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"Encontramos 12 obras de la saga Matrix"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0" y="553491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2" name="Text 20"/>
          <p:cNvSpPr/>
          <p:nvPr/>
        </p:nvSpPr>
        <p:spPr>
          <a:xfrm>
            <a:off x="9448800" y="5068193"/>
            <a:ext cx="7857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trike="sngStrike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"Sinergias multimediales"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923925" y="623976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34475" y="5544443"/>
            <a:ext cx="9525" cy="70485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1228725" y="5773043"/>
            <a:ext cx="78475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 lista crece"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9144000" y="623976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448800" y="5773043"/>
            <a:ext cx="7857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trike="sngStrike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"Estimado usuario"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923925" y="694461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9134475" y="6249293"/>
            <a:ext cx="9525" cy="70485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0" name="Text 28"/>
          <p:cNvSpPr/>
          <p:nvPr/>
        </p:nvSpPr>
        <p:spPr>
          <a:xfrm>
            <a:off x="1228725" y="6477893"/>
            <a:ext cx="78475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"Esto te puede gustar"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144000" y="6944618"/>
            <a:ext cx="822007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2" name="Text 30"/>
          <p:cNvSpPr/>
          <p:nvPr/>
        </p:nvSpPr>
        <p:spPr>
          <a:xfrm>
            <a:off x="9448800" y="6477893"/>
            <a:ext cx="7857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trike="sngStrike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"Disponibilizar"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134475" y="6954143"/>
            <a:ext cx="9525" cy="6953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4" name="Text 32"/>
          <p:cNvSpPr/>
          <p:nvPr/>
        </p:nvSpPr>
        <p:spPr>
          <a:xfrm>
            <a:off x="1228725" y="7182743"/>
            <a:ext cx="78475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· spin-off · OVA · soundtrack · RPG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48800" y="7182743"/>
            <a:ext cx="7857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trike="sngStrike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Jerga corporativa · memes efímeros</a:t>
            </a:r>
            <a:endParaRPr lang="en-US" sz="15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226582" y="819150"/>
            <a:ext cx="7499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WEB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234612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APLICACIÓN · WEB HOME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marca en uso.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2850803"/>
            <a:ext cx="16459200" cy="6891412"/>
          </a:xfrm>
          <a:prstGeom prst="roundRect">
            <a:avLst>
              <a:gd name="adj" fmla="val 2211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3612803"/>
            <a:ext cx="1644015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3112740"/>
            <a:ext cx="10332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88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1950" b="1" spc="-8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528664" y="3153221"/>
            <a:ext cx="71154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392612" y="3153221"/>
            <a:ext cx="9055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biblioteca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450556" y="3153221"/>
            <a:ext cx="4589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061868" y="3153221"/>
            <a:ext cx="82354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6453470" y="3112740"/>
            <a:ext cx="605805" cy="247650"/>
          </a:xfrm>
          <a:prstGeom prst="roundRect">
            <a:avLst>
              <a:gd name="adj" fmla="val 30769"/>
            </a:avLst>
          </a:prstGeom>
          <a:solidFill>
            <a:srgbClr val="F87171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6586820" y="3112740"/>
            <a:ext cx="4153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28725" y="3927128"/>
            <a:ext cx="15830550" cy="609600"/>
          </a:xfrm>
          <a:prstGeom prst="roundRect">
            <a:avLst>
              <a:gd name="adj" fmla="val 25000"/>
            </a:avLst>
          </a:prstGeom>
          <a:solidFill>
            <a:srgbClr val="141416"/>
          </a:solidFill>
          <a:ln w="9525">
            <a:solidFill>
              <a:srgbClr val="FF4D4D"/>
            </a:solidFill>
            <a:prstDash val="solid"/>
          </a:ln>
          <a:effectLst>
            <a:outerShdw sx="100000" sy="100000" kx="0" ky="0" algn="bl" rotWithShape="0" blurRad="101600" dist="50800" dir="16200000">
              <a:srgbClr val="FF4D4D">
                <a:alpha val="1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4127153"/>
            <a:ext cx="209550" cy="2095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66900" y="4129534"/>
            <a:ext cx="299312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cualquier película, libro, juego…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28725" y="4765328"/>
            <a:ext cx="1630546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TENDENCIA · ESTA SEMANA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1228725" y="5141565"/>
            <a:ext cx="2511400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23" name="Shape 20"/>
          <p:cNvSpPr/>
          <p:nvPr/>
        </p:nvSpPr>
        <p:spPr>
          <a:xfrm>
            <a:off x="1228725" y="5141565"/>
            <a:ext cx="2511400" cy="3767063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24" name="Shape 21"/>
          <p:cNvSpPr/>
          <p:nvPr/>
        </p:nvSpPr>
        <p:spPr>
          <a:xfrm>
            <a:off x="1228725" y="5141565"/>
            <a:ext cx="2511400" cy="3767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343025" y="9003878"/>
            <a:ext cx="89713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Runner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343025" y="9199141"/>
            <a:ext cx="2359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892525" y="5141565"/>
            <a:ext cx="2511400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28" name="Shape 25"/>
          <p:cNvSpPr/>
          <p:nvPr/>
        </p:nvSpPr>
        <p:spPr>
          <a:xfrm>
            <a:off x="3892525" y="5141565"/>
            <a:ext cx="2511400" cy="3767063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29" name="Shape 26"/>
          <p:cNvSpPr/>
          <p:nvPr/>
        </p:nvSpPr>
        <p:spPr>
          <a:xfrm>
            <a:off x="3892525" y="5141565"/>
            <a:ext cx="2511400" cy="3767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4006825" y="9003878"/>
            <a:ext cx="5142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Dune 2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006825" y="9199141"/>
            <a:ext cx="2359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8.9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556325" y="5141565"/>
            <a:ext cx="2511400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33" name="Shape 30"/>
          <p:cNvSpPr/>
          <p:nvPr/>
        </p:nvSpPr>
        <p:spPr>
          <a:xfrm>
            <a:off x="6556325" y="5141565"/>
            <a:ext cx="2511400" cy="3767063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34" name="Shape 31"/>
          <p:cNvSpPr/>
          <p:nvPr/>
        </p:nvSpPr>
        <p:spPr>
          <a:xfrm>
            <a:off x="6556325" y="5141565"/>
            <a:ext cx="2511400" cy="3767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670625" y="9003878"/>
            <a:ext cx="85896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Edgerunners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670625" y="9199141"/>
            <a:ext cx="2359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8.7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220126" y="5141565"/>
            <a:ext cx="2511475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38" name="Shape 35"/>
          <p:cNvSpPr/>
          <p:nvPr/>
        </p:nvSpPr>
        <p:spPr>
          <a:xfrm>
            <a:off x="9220126" y="5141565"/>
            <a:ext cx="2511475" cy="3767212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39" name="Shape 36"/>
          <p:cNvSpPr/>
          <p:nvPr/>
        </p:nvSpPr>
        <p:spPr>
          <a:xfrm>
            <a:off x="9220126" y="5141565"/>
            <a:ext cx="2511475" cy="376721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9334426" y="9004027"/>
            <a:ext cx="92839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Elysium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334426" y="9199290"/>
            <a:ext cx="23590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1884000" y="5141565"/>
            <a:ext cx="2511400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43" name="Shape 40"/>
          <p:cNvSpPr/>
          <p:nvPr/>
        </p:nvSpPr>
        <p:spPr>
          <a:xfrm>
            <a:off x="11884000" y="5141565"/>
            <a:ext cx="2511400" cy="3767063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44" name="Shape 41"/>
          <p:cNvSpPr/>
          <p:nvPr/>
        </p:nvSpPr>
        <p:spPr>
          <a:xfrm>
            <a:off x="11884000" y="5141565"/>
            <a:ext cx="2511400" cy="3767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11998300" y="9003878"/>
            <a:ext cx="72204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Severance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11998300" y="9199141"/>
            <a:ext cx="2359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8.8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4547800" y="5141565"/>
            <a:ext cx="2511400" cy="4286324"/>
          </a:xfrm>
          <a:prstGeom prst="roundRect">
            <a:avLst>
              <a:gd name="adj" fmla="val 3793"/>
            </a:avLst>
          </a:prstGeom>
          <a:solidFill>
            <a:srgbClr val="1C1C1F"/>
          </a:solidFill>
          <a:ln/>
        </p:spPr>
      </p:sp>
      <p:sp>
        <p:nvSpPr>
          <p:cNvPr id="48" name="Shape 45"/>
          <p:cNvSpPr/>
          <p:nvPr/>
        </p:nvSpPr>
        <p:spPr>
          <a:xfrm>
            <a:off x="14547800" y="5141565"/>
            <a:ext cx="2511400" cy="3767063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49" name="Shape 46"/>
          <p:cNvSpPr/>
          <p:nvPr/>
        </p:nvSpPr>
        <p:spPr>
          <a:xfrm>
            <a:off x="14547800" y="5141565"/>
            <a:ext cx="2511400" cy="3767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4662100" y="9003878"/>
            <a:ext cx="48361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Stoner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4662100" y="9199141"/>
            <a:ext cx="2359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8.5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058183" y="819150"/>
            <a:ext cx="9183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REDES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47104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52141" y="1590675"/>
            <a:ext cx="165534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REDES SOCIALES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acento se reserva para CTAs y destacados puntuales.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850803"/>
            <a:ext cx="5494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INSTAGRAM · 1:1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914400" y="3112740"/>
            <a:ext cx="5334000" cy="5334000"/>
          </a:xfrm>
          <a:prstGeom prst="roundRect">
            <a:avLst>
              <a:gd name="adj" fmla="val 2857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4925" y="3503265"/>
            <a:ext cx="4689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RECOMENDADA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304925" y="5131147"/>
            <a:ext cx="4689539" cy="117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historia que no podés perderte.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304925" y="7751415"/>
            <a:ext cx="728737" cy="304800"/>
          </a:xfrm>
          <a:prstGeom prst="roundRect">
            <a:avLst>
              <a:gd name="adj" fmla="val 25000"/>
            </a:avLst>
          </a:prstGeom>
          <a:solidFill>
            <a:srgbClr val="A78BFA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38275" y="7751415"/>
            <a:ext cx="5382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95367" y="7818090"/>
            <a:ext cx="738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6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spc="-61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spc="-6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7000" y="2850803"/>
            <a:ext cx="5494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X / LINKEDIN · 16:9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477000" y="3112740"/>
            <a:ext cx="5334000" cy="3000375"/>
          </a:xfrm>
          <a:prstGeom prst="roundRect">
            <a:avLst>
              <a:gd name="adj" fmla="val 5079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525" y="3503265"/>
            <a:ext cx="4689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BRANDBOOK 2.0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67525" y="4193828"/>
            <a:ext cx="468953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1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tu cultura, sin límites.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867525" y="5574953"/>
            <a:ext cx="468953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no/limits — 2026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7000" y="6341715"/>
            <a:ext cx="5494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AVATARS · 1:1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477000" y="6603653"/>
            <a:ext cx="952500" cy="952500"/>
          </a:xfrm>
          <a:prstGeom prst="roundRect">
            <a:avLst>
              <a:gd name="adj" fmla="val 16000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230" y="6939855"/>
            <a:ext cx="560040" cy="2800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581900" y="6603653"/>
            <a:ext cx="952500" cy="952500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937028"/>
            <a:ext cx="571500" cy="28575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2039600" y="2850803"/>
            <a:ext cx="54940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IG · 9:16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12039600" y="3112740"/>
            <a:ext cx="2476500" cy="4402634"/>
          </a:xfrm>
          <a:prstGeom prst="roundRect">
            <a:avLst>
              <a:gd name="adj" fmla="val 6154"/>
            </a:avLst>
          </a:prstGeom>
          <a:solidFill>
            <a:srgbClr val="0A0A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2315825" y="3388965"/>
            <a:ext cx="2000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spc="-67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spc="-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12315825" y="4452045"/>
            <a:ext cx="1202457" cy="304800"/>
          </a:xfrm>
          <a:prstGeom prst="roundRect">
            <a:avLst>
              <a:gd name="adj" fmla="val 25000"/>
            </a:avLst>
          </a:prstGeom>
          <a:solidFill>
            <a:srgbClr val="60A5FA">
              <a:alpha val="1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12449175" y="4452045"/>
            <a:ext cx="10119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63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VIDEOJUEGO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2315825" y="5061645"/>
            <a:ext cx="2000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Elysium</a:t>
            </a:r>
            <a:endParaRPr lang="en-US" sz="2250" dirty="0"/>
          </a:p>
        </p:txBody>
      </p:sp>
      <p:sp>
        <p:nvSpPr>
          <p:cNvPr id="32" name="Text 28"/>
          <p:cNvSpPr/>
          <p:nvPr/>
        </p:nvSpPr>
        <p:spPr>
          <a:xfrm>
            <a:off x="12315825" y="5433120"/>
            <a:ext cx="20002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 · 2019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2315825" y="5704582"/>
            <a:ext cx="2000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9.4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12315825" y="6858149"/>
            <a:ext cx="1924050" cy="381000"/>
          </a:xfrm>
          <a:prstGeom prst="roundRect">
            <a:avLst>
              <a:gd name="adj" fmla="val 25000"/>
            </a:avLst>
          </a:prstGeom>
          <a:solidFill>
            <a:srgbClr val="FF4D4D"/>
          </a:solidFill>
          <a:ln/>
        </p:spPr>
      </p:sp>
      <p:sp>
        <p:nvSpPr>
          <p:cNvPr id="35" name="Text 31"/>
          <p:cNvSpPr/>
          <p:nvPr/>
        </p:nvSpPr>
        <p:spPr>
          <a:xfrm>
            <a:off x="12449175" y="6858149"/>
            <a:ext cx="1657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Agregar a tu lista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889709" y="819150"/>
            <a:ext cx="10868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SÍ / NO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31512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CASOS CORRECTOS / INCORRECTOS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043113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No.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00320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343182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1" name="Text 9"/>
          <p:cNvSpPr/>
          <p:nvPr/>
        </p:nvSpPr>
        <p:spPr>
          <a:xfrm>
            <a:off x="1133475" y="314607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71575" y="361280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casi negro cálido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#0A0A0B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39250" y="300320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48775" y="343182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5" name="Text 13"/>
          <p:cNvSpPr/>
          <p:nvPr/>
        </p:nvSpPr>
        <p:spPr>
          <a:xfrm>
            <a:off x="9458325" y="314607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NO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496425" y="361280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marino corporativo de la paleta v1.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4403378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925" y="4832003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33475" y="4546253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71575" y="5012978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color de acento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39250" y="4403378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8775" y="4832003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3" name="Text 21"/>
          <p:cNvSpPr/>
          <p:nvPr/>
        </p:nvSpPr>
        <p:spPr>
          <a:xfrm>
            <a:off x="9458325" y="4546253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NO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496425" y="5012978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acentos compitiendo.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580355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925" y="623217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33475" y="594642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171575" y="641315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editorial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tracking negativo.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239250" y="580355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48775" y="623217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1" name="Text 29"/>
          <p:cNvSpPr/>
          <p:nvPr/>
        </p:nvSpPr>
        <p:spPr>
          <a:xfrm>
            <a:off x="9458325" y="594642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NO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496425" y="641315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redondas tipo Poppins, Quicksand.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14400" y="7203728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3925" y="7632353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5" name="Text 33"/>
          <p:cNvSpPr/>
          <p:nvPr/>
        </p:nvSpPr>
        <p:spPr>
          <a:xfrm>
            <a:off x="1133475" y="7346603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171575" y="7813328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Microinteracciones sutiles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comunican estado.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239250" y="7203728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8775" y="7632353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9" name="Text 37"/>
          <p:cNvSpPr/>
          <p:nvPr/>
        </p:nvSpPr>
        <p:spPr>
          <a:xfrm>
            <a:off x="9458325" y="7346603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NO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496425" y="7813328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Parallax, partículas, scroll-jacking.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14400" y="860390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925" y="903252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3" name="Text 41"/>
          <p:cNvSpPr/>
          <p:nvPr/>
        </p:nvSpPr>
        <p:spPr>
          <a:xfrm>
            <a:off x="1133475" y="874677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SÍ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171575" y="921350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sangradas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borde, sin marcos.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39250" y="8603903"/>
            <a:ext cx="8134350" cy="1209675"/>
          </a:xfrm>
          <a:prstGeom prst="roundRect">
            <a:avLst>
              <a:gd name="adj" fmla="val 11024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48775" y="9032528"/>
            <a:ext cx="8115300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7" name="Text 45"/>
          <p:cNvSpPr/>
          <p:nvPr/>
        </p:nvSpPr>
        <p:spPr>
          <a:xfrm>
            <a:off x="9458325" y="8746778"/>
            <a:ext cx="7939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NO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9496425" y="9213503"/>
            <a:ext cx="78634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con marcos, sombras o filtros sepia.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637073" y="819150"/>
            <a:ext cx="13394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ESENCIALES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185268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MINI-GUÍA RÁPIDA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966912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esenciales en una página.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4850160"/>
            <a:ext cx="3169890" cy="1188690"/>
          </a:xfrm>
          <a:prstGeom prst="roundRect">
            <a:avLst>
              <a:gd name="adj" fmla="val 1121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475" y="506923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3475" y="5312122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33475" y="5626447"/>
            <a:ext cx="281369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no/limits · Geist 700 · slash en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#FF4D4D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36690" y="4850160"/>
            <a:ext cx="3169890" cy="1188690"/>
          </a:xfrm>
          <a:prstGeom prst="roundRect">
            <a:avLst>
              <a:gd name="adj" fmla="val 1121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5765" y="506923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55765" y="5312122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base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55765" y="5626447"/>
            <a:ext cx="281369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#0A0A0B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negro cálido, no azulado.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58980" y="4850160"/>
            <a:ext cx="3169965" cy="1188690"/>
          </a:xfrm>
          <a:prstGeom prst="roundRect">
            <a:avLst>
              <a:gd name="adj" fmla="val 1121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8055" y="5069235"/>
            <a:ext cx="28137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8055" y="5312122"/>
            <a:ext cx="28137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778055" y="5626447"/>
            <a:ext cx="281376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#FF4D4D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único, eléctrico.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881345" y="4850160"/>
            <a:ext cx="3169890" cy="1188690"/>
          </a:xfrm>
          <a:prstGeom prst="roundRect">
            <a:avLst>
              <a:gd name="adj" fmla="val 1121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0420" y="506923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00420" y="5312122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100420" y="5626447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· Inter · JetBrains Mono.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203635" y="4850160"/>
            <a:ext cx="3169890" cy="1188690"/>
          </a:xfrm>
          <a:prstGeom prst="roundRect">
            <a:avLst>
              <a:gd name="adj" fmla="val 11218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22710" y="506923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422710" y="5312122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422710" y="5626447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4·8·12·16·24·32·48·64·96.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6191250"/>
            <a:ext cx="3169890" cy="1181993"/>
          </a:xfrm>
          <a:prstGeom prst="roundRect">
            <a:avLst>
              <a:gd name="adj" fmla="val 112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475" y="641032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3475" y="6653213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33475" y="6967538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8 · Cards 12 · Modales 16.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36690" y="6191250"/>
            <a:ext cx="3169890" cy="1181993"/>
          </a:xfrm>
          <a:prstGeom prst="roundRect">
            <a:avLst>
              <a:gd name="adj" fmla="val 112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5765" y="641032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55765" y="6653213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4455765" y="6967538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· 2px stroke · currentColor.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58980" y="6191250"/>
            <a:ext cx="3169965" cy="1181993"/>
          </a:xfrm>
          <a:prstGeom prst="roundRect">
            <a:avLst>
              <a:gd name="adj" fmla="val 112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8055" y="6410325"/>
            <a:ext cx="281376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8055" y="6653213"/>
            <a:ext cx="28137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778055" y="6967538"/>
            <a:ext cx="2813769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Ease-out · 150–400 ms.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881345" y="6191250"/>
            <a:ext cx="3169890" cy="1181993"/>
          </a:xfrm>
          <a:prstGeom prst="roundRect">
            <a:avLst>
              <a:gd name="adj" fmla="val 112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00420" y="641032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100420" y="6653213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100420" y="6967538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sombra · hover scale 1.02.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4203635" y="6191250"/>
            <a:ext cx="3169890" cy="1181993"/>
          </a:xfrm>
          <a:prstGeom prst="roundRect">
            <a:avLst>
              <a:gd name="adj" fmla="val 11282"/>
            </a:avLst>
          </a:prstGeom>
          <a:solidFill>
            <a:srgbClr val="141416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422710" y="6410325"/>
            <a:ext cx="281369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4422710" y="6653213"/>
            <a:ext cx="28136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422710" y="6967538"/>
            <a:ext cx="281369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Cercano. Experto. Cero corporativo.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954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buNone/>
            </a:pPr>
            <a:r>
              <a:rPr lang="en-US" sz="1650" b="1" spc="-66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384438" y="819150"/>
            <a:ext cx="15920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PROHIBICIONES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7205127" y="819150"/>
            <a:ext cx="2446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914400" y="1626394"/>
            <a:ext cx="76200" cy="76200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590675"/>
            <a:ext cx="273621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4721" y="1590675"/>
            <a:ext cx="244487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RESTRICCIONES GLOBALES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966912"/>
            <a:ext cx="1695297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reglas inviolables.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2927003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52231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92700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927003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9067800" y="2927003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71575" y="3127028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95475" y="3127028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usar la paleta v1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(azul noche #1A1A2E + coral #E94560).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10675" y="2927003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17" name="Shape 15"/>
          <p:cNvSpPr/>
          <p:nvPr/>
        </p:nvSpPr>
        <p:spPr>
          <a:xfrm>
            <a:off x="9210675" y="352231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9210675" y="292700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9210675" y="2927003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64075" y="2927003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9467850" y="3127028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91750" y="3127028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aplicar gradientes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salvo el permitido en hero backgrounds.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3665190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26050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665190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3665190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9067800" y="3665190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8" name="Text 26"/>
          <p:cNvSpPr/>
          <p:nvPr/>
        </p:nvSpPr>
        <p:spPr>
          <a:xfrm>
            <a:off x="1171575" y="3865215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95475" y="3865215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usar sombras gruesas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glows decorativos.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210675" y="3665190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31" name="Shape 29"/>
          <p:cNvSpPr/>
          <p:nvPr/>
        </p:nvSpPr>
        <p:spPr>
          <a:xfrm>
            <a:off x="9210675" y="426050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9210675" y="3665190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9210675" y="3665190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64075" y="3665190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5" name="Text 33"/>
          <p:cNvSpPr/>
          <p:nvPr/>
        </p:nvSpPr>
        <p:spPr>
          <a:xfrm>
            <a:off x="9467850" y="3865215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91750" y="3865215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mezclar sets de iconos.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Lucide.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14400" y="4403378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400" y="4998690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4403378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4403378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1" name="Shape 39"/>
          <p:cNvSpPr/>
          <p:nvPr/>
        </p:nvSpPr>
        <p:spPr>
          <a:xfrm>
            <a:off x="9067800" y="4403378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2" name="Text 40"/>
          <p:cNvSpPr/>
          <p:nvPr/>
        </p:nvSpPr>
        <p:spPr>
          <a:xfrm>
            <a:off x="1171575" y="4603403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95475" y="4603403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usar fuentes redondas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Poppins, Quicksand, Comfortaa.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210675" y="4403378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45" name="Shape 43"/>
          <p:cNvSpPr/>
          <p:nvPr/>
        </p:nvSpPr>
        <p:spPr>
          <a:xfrm>
            <a:off x="9210675" y="4998690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6" name="Shape 44"/>
          <p:cNvSpPr/>
          <p:nvPr/>
        </p:nvSpPr>
        <p:spPr>
          <a:xfrm>
            <a:off x="9210675" y="4403378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7" name="Shape 45"/>
          <p:cNvSpPr/>
          <p:nvPr/>
        </p:nvSpPr>
        <p:spPr>
          <a:xfrm>
            <a:off x="9210675" y="4403378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8" name="Shape 46"/>
          <p:cNvSpPr/>
          <p:nvPr/>
        </p:nvSpPr>
        <p:spPr>
          <a:xfrm>
            <a:off x="17364075" y="4403378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49" name="Text 47"/>
          <p:cNvSpPr/>
          <p:nvPr/>
        </p:nvSpPr>
        <p:spPr>
          <a:xfrm>
            <a:off x="9467850" y="4603403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191750" y="4603403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deformar, rotar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aplicar efectos al wordmark.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914400" y="5141565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4400" y="5736878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3" name="Shape 51"/>
          <p:cNvSpPr/>
          <p:nvPr/>
        </p:nvSpPr>
        <p:spPr>
          <a:xfrm>
            <a:off x="914400" y="514156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4" name="Shape 52"/>
          <p:cNvSpPr/>
          <p:nvPr/>
        </p:nvSpPr>
        <p:spPr>
          <a:xfrm>
            <a:off x="914400" y="5141565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5" name="Shape 53"/>
          <p:cNvSpPr/>
          <p:nvPr/>
        </p:nvSpPr>
        <p:spPr>
          <a:xfrm>
            <a:off x="9067800" y="5141565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6" name="Text 54"/>
          <p:cNvSpPr/>
          <p:nvPr/>
        </p:nvSpPr>
        <p:spPr>
          <a:xfrm>
            <a:off x="1171575" y="5341590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895475" y="5341590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usar el acento #FF4D4D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fondo &gt; 200px².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210675" y="5141565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59" name="Shape 57"/>
          <p:cNvSpPr/>
          <p:nvPr/>
        </p:nvSpPr>
        <p:spPr>
          <a:xfrm>
            <a:off x="9210675" y="5736878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0" name="Shape 58"/>
          <p:cNvSpPr/>
          <p:nvPr/>
        </p:nvSpPr>
        <p:spPr>
          <a:xfrm>
            <a:off x="9210675" y="514156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9210675" y="5141565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64075" y="5141565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3" name="Text 61"/>
          <p:cNvSpPr/>
          <p:nvPr/>
        </p:nvSpPr>
        <p:spPr>
          <a:xfrm>
            <a:off x="9467850" y="5341590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191750" y="5341590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usar emojis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UI productiva crítica.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914400" y="5879753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" y="647506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" y="587975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8" name="Shape 66"/>
          <p:cNvSpPr/>
          <p:nvPr/>
        </p:nvSpPr>
        <p:spPr>
          <a:xfrm>
            <a:off x="914400" y="5879753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9" name="Shape 67"/>
          <p:cNvSpPr/>
          <p:nvPr/>
        </p:nvSpPr>
        <p:spPr>
          <a:xfrm>
            <a:off x="9067800" y="5879753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0" name="Text 68"/>
          <p:cNvSpPr/>
          <p:nvPr/>
        </p:nvSpPr>
        <p:spPr>
          <a:xfrm>
            <a:off x="1171575" y="6079778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895475" y="6079778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aplicar filtros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portadas (sepia, blur).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9210675" y="5879753"/>
            <a:ext cx="8162925" cy="604838"/>
          </a:xfrm>
          <a:prstGeom prst="roundRect">
            <a:avLst>
              <a:gd name="adj" fmla="val 15748"/>
            </a:avLst>
          </a:prstGeom>
          <a:solidFill>
            <a:srgbClr val="141416"/>
          </a:solidFill>
          <a:ln/>
        </p:spPr>
      </p:sp>
      <p:sp>
        <p:nvSpPr>
          <p:cNvPr id="73" name="Shape 71"/>
          <p:cNvSpPr/>
          <p:nvPr/>
        </p:nvSpPr>
        <p:spPr>
          <a:xfrm>
            <a:off x="9210675" y="6475065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4" name="Shape 72"/>
          <p:cNvSpPr/>
          <p:nvPr/>
        </p:nvSpPr>
        <p:spPr>
          <a:xfrm>
            <a:off x="9210675" y="5879753"/>
            <a:ext cx="8162925" cy="9525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5" name="Shape 73"/>
          <p:cNvSpPr/>
          <p:nvPr/>
        </p:nvSpPr>
        <p:spPr>
          <a:xfrm>
            <a:off x="9210675" y="5879753"/>
            <a:ext cx="28575" cy="60483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6" name="Shape 74"/>
          <p:cNvSpPr/>
          <p:nvPr/>
        </p:nvSpPr>
        <p:spPr>
          <a:xfrm>
            <a:off x="17364075" y="5879753"/>
            <a:ext cx="9525" cy="604838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7" name="Text 75"/>
          <p:cNvSpPr/>
          <p:nvPr/>
        </p:nvSpPr>
        <p:spPr>
          <a:xfrm>
            <a:off x="9467850" y="6079778"/>
            <a:ext cx="6096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0191750" y="6079778"/>
            <a:ext cx="7152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poner densidad de dashboard </a:t>
            </a:r>
            <a:pPr algn="l" indent="0" marL="0">
              <a:buNone/>
            </a:pPr>
            <a:r>
              <a:rPr lang="en-US" sz="13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vistas de descubrimiento.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5347" y="2950369"/>
            <a:ext cx="177730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17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BRANDBOOK V2.0 · FIN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352989" y="3555206"/>
            <a:ext cx="758194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algn="ctr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ctr" indent="0" marL="0">
              <a:lnSpc>
                <a:spcPct val="100000"/>
              </a:lnSpc>
              <a:buNone/>
            </a:pPr>
            <a:r>
              <a:rPr lang="en-US" sz="15000" b="1" spc="-6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621335" y="5917406"/>
            <a:ext cx="5045255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spc="-79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tu cultura, sin límites.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7778084" y="7160419"/>
            <a:ext cx="273175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3 · TPY1101 · 2026 — Q1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2026-05-11T05:47:03Z</dcterms:created>
  <dcterms:modified xsi:type="dcterms:W3CDTF">2026-05-11T05:47:03Z</dcterms:modified>
</cp:coreProperties>
</file>